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talk is about trust, lemons, and markets — with a little bit about accounting woven through. The 'lemons' framing comes from George Akerlof's famous 1970 paper that won the 2001 Nobel. We'll spend most of our time inside an interactive walk-through of that argument. The accounting piece is mostly the lens, not the topic. Keep it conversational. Goal for this opening: settle them in, make eye contact, set expectations. Don't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word about me — I'm not going to do the credentials thing. Undergrad at Oklahoma State, B.S. in Business. PhD at Stanford in Business. I've spent a long time at Yale teaching accounting. The honest version is that I find this stuff genuinely interesting — that interest is the only credential that really matters for what you're doing in your capstone. If you find a problem that fascinates you, you'll do good work on it. Tone here: warm, low-key, not promotional. Move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obvious question: why is an accounting professor talking to you about trust, lemons, and markets? Pause. Let it sit. The short answer: they all turn on the same thing — information. Who knows what, when, and how reliably. Accounting is the system humans built to make information about businesses more trustworthy. Markets break when information goes uneven. So 'why am I here' = I've spent a career on the information side of all of this. Don't over-explain. Plant the question. The spoiler line is for the reveal — the next slide carries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lens I want to plant before we get to the interactive piece. Almost any economics problem you might pick — look at *who knows what*. Health insurance is expensive in part because the people buying it know more about their health than the company does — adverse selection. Startups fail in part because investors can't distinguish good ideas from bad ones at the early stage. Some markets stay thin because trust hasn't been built up — buyers and sellers don't know what they're getting. Information runs underneath all of these. So when you go pick your capstone topic, ask: what's the information problem here? That question alone will get you a long way. I'll come back to this lens at the end — for now, it's a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 let's switch over to the interactive. I'm going to share a different window now. We're going to walk through a famous example — the used-car market — that George Akerlof wrote about in 1970. The paper is called 'The Market for Lemons.' It became one of the most cited papers in economics because the same logic shows up everywhere — insurance, hiring, lending, dating apps, you name it. If you want to follow along on your laptop or phone, the link is on this slide — rick50antle.github.io/seeds-of-fortune-talk. It clicks through at the same pace I do. Hand-off cue: 'Let's go take a look.' Then switch to Chrome and load akerlof-lemons-v4.html?v=NEW (or the public URL). Make sure speaker-notes window is open in the second monitor / second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rick50antle.github.io/seeds-of-fortune-talk/"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56B"/>
        </a:solidFill>
      </p:bgPr>
    </p:bg>
    <p:spTree>
      <p:nvGrpSpPr>
        <p:cNvPr id="1" name=""/>
        <p:cNvGrpSpPr/>
        <p:nvPr/>
      </p:nvGrpSpPr>
      <p:grpSpPr>
        <a:xfrm>
          <a:off x="0" y="0"/>
          <a:ext cx="0" cy="0"/>
          <a:chOff x="0" y="0"/>
          <a:chExt cx="0" cy="0"/>
        </a:xfrm>
      </p:grpSpPr>
      <p:sp>
        <p:nvSpPr>
          <p:cNvPr id="2" name="Text 0"/>
          <p:cNvSpPr/>
          <p:nvPr/>
        </p:nvSpPr>
        <p:spPr>
          <a:xfrm>
            <a:off x="457200" y="1051560"/>
            <a:ext cx="8229600" cy="365760"/>
          </a:xfrm>
          <a:prstGeom prst="rect">
            <a:avLst/>
          </a:prstGeom>
          <a:noFill/>
          <a:ln/>
        </p:spPr>
        <p:txBody>
          <a:bodyPr wrap="square" lIns="0" tIns="0" rIns="0" bIns="0" rtlCol="0" anchor="ctr"/>
          <a:lstStyle/>
          <a:p>
            <a:pPr algn="ctr" indent="0" marL="0">
              <a:buNone/>
            </a:pPr>
            <a:r>
              <a:rPr lang="en-US" sz="1100" spc="400" kern="0" dirty="0">
                <a:solidFill>
                  <a:srgbClr val="B89968"/>
                </a:solidFill>
                <a:latin typeface="Calibri" pitchFamily="34" charset="0"/>
                <a:ea typeface="Calibri" pitchFamily="34" charset="-122"/>
                <a:cs typeface="Calibri" pitchFamily="34" charset="-120"/>
              </a:rPr>
              <a:t>SEEDS OF FORTUNE   ·   YALE WOMEN IN ECONOMICS</a:t>
            </a:r>
            <a:endParaRPr lang="en-US" sz="1100" dirty="0"/>
          </a:p>
        </p:txBody>
      </p:sp>
      <p:sp>
        <p:nvSpPr>
          <p:cNvPr id="3" name="Text 1"/>
          <p:cNvSpPr/>
          <p:nvPr/>
        </p:nvSpPr>
        <p:spPr>
          <a:xfrm>
            <a:off x="457200" y="1600200"/>
            <a:ext cx="8229600" cy="82296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Trust, Lemons, Markets</a:t>
            </a:r>
            <a:endParaRPr lang="en-US" sz="4800" dirty="0"/>
          </a:p>
        </p:txBody>
      </p:sp>
      <p:sp>
        <p:nvSpPr>
          <p:cNvPr id="4" name="Text 2"/>
          <p:cNvSpPr/>
          <p:nvPr/>
        </p:nvSpPr>
        <p:spPr>
          <a:xfrm>
            <a:off x="457200" y="2514600"/>
            <a:ext cx="8229600" cy="457200"/>
          </a:xfrm>
          <a:prstGeom prst="rect">
            <a:avLst/>
          </a:prstGeom>
          <a:noFill/>
          <a:ln/>
        </p:spPr>
        <p:txBody>
          <a:bodyPr wrap="square" lIns="0" tIns="0" rIns="0" bIns="0" rtlCol="0" anchor="ctr"/>
          <a:lstStyle/>
          <a:p>
            <a:pPr algn="ctr" indent="0" marL="0">
              <a:buNone/>
            </a:pPr>
            <a:r>
              <a:rPr lang="en-US" sz="2200" i="1" dirty="0">
                <a:solidFill>
                  <a:srgbClr val="CADCFC"/>
                </a:solidFill>
                <a:latin typeface="Georgia" pitchFamily="34" charset="0"/>
                <a:ea typeface="Georgia" pitchFamily="34" charset="-122"/>
                <a:cs typeface="Georgia" pitchFamily="34" charset="-120"/>
              </a:rPr>
              <a:t>and (a little bit about) accounting</a:t>
            </a:r>
            <a:endParaRPr lang="en-US" sz="2200" dirty="0"/>
          </a:p>
        </p:txBody>
      </p:sp>
      <p:sp>
        <p:nvSpPr>
          <p:cNvPr id="5" name="Text 3"/>
          <p:cNvSpPr/>
          <p:nvPr/>
        </p:nvSpPr>
        <p:spPr>
          <a:xfrm>
            <a:off x="457200" y="3840480"/>
            <a:ext cx="822960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Rick Antle   ·   Yale School of Management</a:t>
            </a:r>
            <a:endParaRPr lang="en-US" sz="1600" dirty="0"/>
          </a:p>
        </p:txBody>
      </p:sp>
      <p:sp>
        <p:nvSpPr>
          <p:cNvPr id="6" name="Text 4"/>
          <p:cNvSpPr/>
          <p:nvPr/>
        </p:nvSpPr>
        <p:spPr>
          <a:xfrm>
            <a:off x="457200" y="4297680"/>
            <a:ext cx="8229600" cy="274320"/>
          </a:xfrm>
          <a:prstGeom prst="rect">
            <a:avLst/>
          </a:prstGeom>
          <a:noFill/>
          <a:ln/>
        </p:spPr>
        <p:txBody>
          <a:bodyPr wrap="square" lIns="0" tIns="0" rIns="0" bIns="0" rtlCol="0" anchor="ctr"/>
          <a:lstStyle/>
          <a:p>
            <a:pPr algn="ctr" indent="0" marL="0">
              <a:buNone/>
            </a:pPr>
            <a:r>
              <a:rPr lang="en-US" sz="1200" dirty="0">
                <a:solidFill>
                  <a:srgbClr val="B89968"/>
                </a:solidFill>
                <a:latin typeface="Calibri" pitchFamily="34" charset="0"/>
                <a:ea typeface="Calibri" pitchFamily="34" charset="-122"/>
                <a:cs typeface="Calibri" pitchFamily="34" charset="-120"/>
              </a:rPr>
              <a:t>May 4, 2026</a:t>
            </a:r>
            <a:endParaRPr lang="en-US" sz="1200" dirty="0"/>
          </a:p>
        </p:txBody>
      </p:sp>
    </p:spTree>
  </p:cSld>
  <p:clrMapOvr>
    <a:masterClrMapping/>
  </p:clrMapOvr>
  <p:transition spd="med" advClick="1">
    <p:wipe dir="r"/>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356B"/>
          </a:solidFill>
          <a:ln w="12700">
            <a:solidFill>
              <a:srgbClr val="00356B"/>
            </a:solidFill>
            <a:prstDash val="solid"/>
          </a:ln>
        </p:spPr>
      </p:sp>
      <p:sp>
        <p:nvSpPr>
          <p:cNvPr id="3" name="Text 1"/>
          <p:cNvSpPr/>
          <p:nvPr/>
        </p:nvSpPr>
        <p:spPr>
          <a:xfrm>
            <a:off x="7863840" y="228600"/>
            <a:ext cx="9144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 · 5</a:t>
            </a:r>
            <a:endParaRPr lang="en-US" sz="1000" dirty="0"/>
          </a:p>
        </p:txBody>
      </p:sp>
      <p:sp>
        <p:nvSpPr>
          <p:cNvPr id="4" name="Text 2"/>
          <p:cNvSpPr/>
          <p:nvPr/>
        </p:nvSpPr>
        <p:spPr>
          <a:xfrm>
            <a:off x="365760" y="4846320"/>
            <a:ext cx="841248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Trust, Lemons, Markets   ·   Yale Women in Economics   ·   May 4, 2026</a:t>
            </a:r>
            <a:endParaRPr lang="en-US" sz="900" dirty="0"/>
          </a:p>
        </p:txBody>
      </p:sp>
      <p:sp>
        <p:nvSpPr>
          <p:cNvPr id="5" name="Text 3"/>
          <p:cNvSpPr/>
          <p:nvPr/>
        </p:nvSpPr>
        <p:spPr>
          <a:xfrm>
            <a:off x="548640" y="502920"/>
            <a:ext cx="8229600" cy="640080"/>
          </a:xfrm>
          <a:prstGeom prst="rect">
            <a:avLst/>
          </a:prstGeom>
          <a:noFill/>
          <a:ln/>
        </p:spPr>
        <p:txBody>
          <a:bodyPr wrap="square" lIns="0" tIns="0" rIns="0" bIns="0" rtlCol="0" anchor="ctr"/>
          <a:lstStyle/>
          <a:p>
            <a:pPr indent="0" marL="0">
              <a:buNone/>
            </a:pPr>
            <a:r>
              <a:rPr lang="en-US" sz="3200" b="1" dirty="0">
                <a:solidFill>
                  <a:srgbClr val="00356B"/>
                </a:solidFill>
                <a:latin typeface="Georgia" pitchFamily="34" charset="0"/>
                <a:ea typeface="Georgia" pitchFamily="34" charset="-122"/>
                <a:cs typeface="Georgia" pitchFamily="34" charset="-120"/>
              </a:rPr>
              <a:t>About me</a:t>
            </a:r>
            <a:endParaRPr lang="en-US" sz="3200" dirty="0"/>
          </a:p>
        </p:txBody>
      </p:sp>
      <p:sp>
        <p:nvSpPr>
          <p:cNvPr id="6" name="Text 4"/>
          <p:cNvSpPr/>
          <p:nvPr/>
        </p:nvSpPr>
        <p:spPr>
          <a:xfrm>
            <a:off x="548640" y="1691640"/>
            <a:ext cx="8229600" cy="457200"/>
          </a:xfrm>
          <a:prstGeom prst="rect">
            <a:avLst/>
          </a:prstGeom>
          <a:noFill/>
          <a:ln/>
        </p:spPr>
        <p:txBody>
          <a:bodyPr wrap="square" lIns="0" tIns="0" rIns="0" bIns="0" rtlCol="0" anchor="ctr"/>
          <a:lstStyle/>
          <a:p>
            <a:pPr algn="ctr" indent="0" marL="0">
              <a:buNone/>
            </a:pPr>
            <a:r>
              <a:rPr lang="en-US" sz="2600" dirty="0">
                <a:solidFill>
                  <a:srgbClr val="1F2937"/>
                </a:solidFill>
                <a:latin typeface="Georgia" pitchFamily="34" charset="0"/>
                <a:ea typeface="Georgia" pitchFamily="34" charset="-122"/>
                <a:cs typeface="Georgia" pitchFamily="34" charset="-120"/>
              </a:rPr>
              <a:t>Oklahoma State</a:t>
            </a:r>
            <a:endParaRPr lang="en-US" sz="2600" dirty="0"/>
          </a:p>
        </p:txBody>
      </p:sp>
      <p:sp>
        <p:nvSpPr>
          <p:cNvPr id="7" name="Text 5"/>
          <p:cNvSpPr/>
          <p:nvPr/>
        </p:nvSpPr>
        <p:spPr>
          <a:xfrm>
            <a:off x="548640" y="2103120"/>
            <a:ext cx="8229600" cy="365760"/>
          </a:xfrm>
          <a:prstGeom prst="rect">
            <a:avLst/>
          </a:prstGeom>
          <a:noFill/>
          <a:ln/>
        </p:spPr>
        <p:txBody>
          <a:bodyPr wrap="square" lIns="0" tIns="0" rIns="0" bIns="0" rtlCol="0" anchor="ctr"/>
          <a:lstStyle/>
          <a:p>
            <a:pPr algn="ctr" indent="0" marL="0">
              <a:buNone/>
            </a:pPr>
            <a:r>
              <a:rPr lang="en-US" sz="1600" i="1" dirty="0">
                <a:solidFill>
                  <a:srgbClr val="6B7280"/>
                </a:solidFill>
                <a:latin typeface="Calibri" pitchFamily="34" charset="0"/>
                <a:ea typeface="Calibri" pitchFamily="34" charset="-122"/>
                <a:cs typeface="Calibri" pitchFamily="34" charset="-120"/>
              </a:rPr>
              <a:t>B.S., Business</a:t>
            </a:r>
            <a:endParaRPr lang="en-US" sz="1600" dirty="0"/>
          </a:p>
        </p:txBody>
      </p:sp>
      <p:sp>
        <p:nvSpPr>
          <p:cNvPr id="8" name="Text 6"/>
          <p:cNvSpPr/>
          <p:nvPr/>
        </p:nvSpPr>
        <p:spPr>
          <a:xfrm>
            <a:off x="548640" y="2697480"/>
            <a:ext cx="8229600" cy="457200"/>
          </a:xfrm>
          <a:prstGeom prst="rect">
            <a:avLst/>
          </a:prstGeom>
          <a:noFill/>
          <a:ln/>
        </p:spPr>
        <p:txBody>
          <a:bodyPr wrap="square" lIns="0" tIns="0" rIns="0" bIns="0" rtlCol="0" anchor="ctr"/>
          <a:lstStyle/>
          <a:p>
            <a:pPr algn="ctr" indent="0" marL="0">
              <a:buNone/>
            </a:pPr>
            <a:r>
              <a:rPr lang="en-US" sz="2600" dirty="0">
                <a:solidFill>
                  <a:srgbClr val="1F2937"/>
                </a:solidFill>
                <a:latin typeface="Georgia" pitchFamily="34" charset="0"/>
                <a:ea typeface="Georgia" pitchFamily="34" charset="-122"/>
                <a:cs typeface="Georgia" pitchFamily="34" charset="-120"/>
              </a:rPr>
              <a:t>Stanford</a:t>
            </a:r>
            <a:endParaRPr lang="en-US" sz="2600" dirty="0"/>
          </a:p>
        </p:txBody>
      </p:sp>
      <p:sp>
        <p:nvSpPr>
          <p:cNvPr id="9" name="Text 7"/>
          <p:cNvSpPr/>
          <p:nvPr/>
        </p:nvSpPr>
        <p:spPr>
          <a:xfrm>
            <a:off x="548640" y="3108960"/>
            <a:ext cx="8229600" cy="365760"/>
          </a:xfrm>
          <a:prstGeom prst="rect">
            <a:avLst/>
          </a:prstGeom>
          <a:noFill/>
          <a:ln/>
        </p:spPr>
        <p:txBody>
          <a:bodyPr wrap="square" lIns="0" tIns="0" rIns="0" bIns="0" rtlCol="0" anchor="ctr"/>
          <a:lstStyle/>
          <a:p>
            <a:pPr algn="ctr" indent="0" marL="0">
              <a:buNone/>
            </a:pPr>
            <a:r>
              <a:rPr lang="en-US" sz="1600" i="1" dirty="0">
                <a:solidFill>
                  <a:srgbClr val="6B7280"/>
                </a:solidFill>
                <a:latin typeface="Calibri" pitchFamily="34" charset="0"/>
                <a:ea typeface="Calibri" pitchFamily="34" charset="-122"/>
                <a:cs typeface="Calibri" pitchFamily="34" charset="-120"/>
              </a:rPr>
              <a:t>PhD, Business</a:t>
            </a:r>
            <a:endParaRPr lang="en-US" sz="1600" dirty="0"/>
          </a:p>
        </p:txBody>
      </p:sp>
      <p:sp>
        <p:nvSpPr>
          <p:cNvPr id="10" name="Text 8"/>
          <p:cNvSpPr/>
          <p:nvPr/>
        </p:nvSpPr>
        <p:spPr>
          <a:xfrm>
            <a:off x="548640" y="4023360"/>
            <a:ext cx="8229600" cy="457200"/>
          </a:xfrm>
          <a:prstGeom prst="rect">
            <a:avLst/>
          </a:prstGeom>
          <a:noFill/>
          <a:ln/>
        </p:spPr>
        <p:txBody>
          <a:bodyPr wrap="square" lIns="0" tIns="0" rIns="0" bIns="0" rtlCol="0" anchor="ctr"/>
          <a:lstStyle/>
          <a:p>
            <a:pPr algn="ctr" indent="0" marL="0">
              <a:buNone/>
            </a:pPr>
            <a:r>
              <a:rPr lang="en-US" sz="1800" i="1" dirty="0">
                <a:solidFill>
                  <a:srgbClr val="B89968"/>
                </a:solidFill>
                <a:latin typeface="Georgia" pitchFamily="34" charset="0"/>
                <a:ea typeface="Georgia" pitchFamily="34" charset="-122"/>
                <a:cs typeface="Georgia" pitchFamily="34" charset="-120"/>
              </a:rPr>
              <a:t>Mostly, I'm just interested in this area.</a:t>
            </a:r>
            <a:endParaRPr lang="en-US" sz="1800" dirty="0"/>
          </a:p>
        </p:txBody>
      </p:sp>
    </p:spTree>
  </p:cSld>
  <p:clrMapOvr>
    <a:masterClrMapping/>
  </p:clrMapOvr>
  <p:transition spd="med" advClick="1">
    <p:wipe dir="r"/>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356B"/>
          </a:solidFill>
          <a:ln w="12700">
            <a:solidFill>
              <a:srgbClr val="00356B"/>
            </a:solidFill>
            <a:prstDash val="solid"/>
          </a:ln>
        </p:spPr>
      </p:sp>
      <p:sp>
        <p:nvSpPr>
          <p:cNvPr id="3" name="Text 1"/>
          <p:cNvSpPr/>
          <p:nvPr/>
        </p:nvSpPr>
        <p:spPr>
          <a:xfrm>
            <a:off x="7863840" y="228600"/>
            <a:ext cx="9144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 · 5</a:t>
            </a:r>
            <a:endParaRPr lang="en-US" sz="1000" dirty="0"/>
          </a:p>
        </p:txBody>
      </p:sp>
      <p:sp>
        <p:nvSpPr>
          <p:cNvPr id="4" name="Text 2"/>
          <p:cNvSpPr/>
          <p:nvPr/>
        </p:nvSpPr>
        <p:spPr>
          <a:xfrm>
            <a:off x="365760" y="4846320"/>
            <a:ext cx="841248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Trust, Lemons, Markets   ·   Yale Women in Economics   ·   May 4, 2026</a:t>
            </a:r>
            <a:endParaRPr lang="en-US" sz="900" dirty="0"/>
          </a:p>
        </p:txBody>
      </p:sp>
      <p:sp>
        <p:nvSpPr>
          <p:cNvPr id="5" name="Text 3"/>
          <p:cNvSpPr/>
          <p:nvPr/>
        </p:nvSpPr>
        <p:spPr>
          <a:xfrm>
            <a:off x="548640" y="502920"/>
            <a:ext cx="8229600" cy="411480"/>
          </a:xfrm>
          <a:prstGeom prst="rect">
            <a:avLst/>
          </a:prstGeom>
          <a:noFill/>
          <a:ln/>
        </p:spPr>
        <p:txBody>
          <a:bodyPr wrap="square" lIns="0" tIns="0" rIns="0" bIns="0" rtlCol="0" anchor="ctr"/>
          <a:lstStyle/>
          <a:p>
            <a:pPr indent="0" marL="0">
              <a:buNone/>
            </a:pPr>
            <a:r>
              <a:rPr lang="en-US" sz="1800" i="1" dirty="0">
                <a:solidFill>
                  <a:srgbClr val="6B7280"/>
                </a:solidFill>
                <a:latin typeface="Georgia" pitchFamily="34" charset="0"/>
                <a:ea typeface="Georgia" pitchFamily="34" charset="-122"/>
                <a:cs typeface="Georgia" pitchFamily="34" charset="-120"/>
              </a:rPr>
              <a:t>So…</a:t>
            </a:r>
            <a:endParaRPr lang="en-US" sz="1800" dirty="0"/>
          </a:p>
        </p:txBody>
      </p:sp>
      <p:sp>
        <p:nvSpPr>
          <p:cNvPr id="6" name="Text 4"/>
          <p:cNvSpPr/>
          <p:nvPr/>
        </p:nvSpPr>
        <p:spPr>
          <a:xfrm>
            <a:off x="548640" y="1417320"/>
            <a:ext cx="8229600" cy="640080"/>
          </a:xfrm>
          <a:prstGeom prst="rect">
            <a:avLst/>
          </a:prstGeom>
          <a:noFill/>
          <a:ln/>
        </p:spPr>
        <p:txBody>
          <a:bodyPr wrap="square" lIns="0" tIns="0" rIns="0" bIns="0" rtlCol="0" anchor="ctr"/>
          <a:lstStyle/>
          <a:p>
            <a:pPr indent="0" marL="0">
              <a:buNone/>
            </a:pPr>
            <a:r>
              <a:rPr lang="en-US" sz="2800" dirty="0">
                <a:solidFill>
                  <a:srgbClr val="00356B"/>
                </a:solidFill>
                <a:latin typeface="Georgia" pitchFamily="34" charset="0"/>
                <a:ea typeface="Georgia" pitchFamily="34" charset="-122"/>
                <a:cs typeface="Georgia" pitchFamily="34" charset="-120"/>
              </a:rPr>
              <a:t>Why would an accounting professor</a:t>
            </a:r>
            <a:endParaRPr lang="en-US" sz="2800" dirty="0"/>
          </a:p>
        </p:txBody>
      </p:sp>
      <p:sp>
        <p:nvSpPr>
          <p:cNvPr id="7" name="Text 5"/>
          <p:cNvSpPr/>
          <p:nvPr/>
        </p:nvSpPr>
        <p:spPr>
          <a:xfrm>
            <a:off x="548640" y="2011680"/>
            <a:ext cx="8229600" cy="640080"/>
          </a:xfrm>
          <a:prstGeom prst="rect">
            <a:avLst/>
          </a:prstGeom>
          <a:noFill/>
          <a:ln/>
        </p:spPr>
        <p:txBody>
          <a:bodyPr wrap="square" lIns="0" tIns="0" rIns="0" bIns="0" rtlCol="0" anchor="ctr"/>
          <a:lstStyle/>
          <a:p>
            <a:pPr indent="0" marL="0">
              <a:buNone/>
            </a:pPr>
            <a:r>
              <a:rPr lang="en-US" sz="2800" b="1" dirty="0">
                <a:solidFill>
                  <a:srgbClr val="00356B"/>
                </a:solidFill>
                <a:latin typeface="Georgia" pitchFamily="34" charset="0"/>
                <a:ea typeface="Georgia" pitchFamily="34" charset="-122"/>
                <a:cs typeface="Georgia" pitchFamily="34" charset="-120"/>
              </a:rPr>
              <a:t>talk about trust, lemons, and markets?</a:t>
            </a:r>
            <a:endParaRPr lang="en-US" sz="2800" dirty="0"/>
          </a:p>
        </p:txBody>
      </p:sp>
      <p:sp>
        <p:nvSpPr>
          <p:cNvPr id="8" name="Text 6"/>
          <p:cNvSpPr/>
          <p:nvPr/>
        </p:nvSpPr>
        <p:spPr>
          <a:xfrm>
            <a:off x="548640" y="3657600"/>
            <a:ext cx="8229600" cy="457200"/>
          </a:xfrm>
          <a:prstGeom prst="rect">
            <a:avLst/>
          </a:prstGeom>
          <a:noFill/>
          <a:ln/>
        </p:spPr>
        <p:txBody>
          <a:bodyPr wrap="square" lIns="0" tIns="0" rIns="0" bIns="0" rtlCol="0" anchor="ctr"/>
          <a:lstStyle/>
          <a:p>
            <a:pPr indent="0" marL="0">
              <a:buNone/>
            </a:pPr>
            <a:r>
              <a:rPr lang="en-US" sz="2200" i="1" dirty="0">
                <a:solidFill>
                  <a:srgbClr val="B89968"/>
                </a:solidFill>
                <a:latin typeface="Georgia" pitchFamily="34" charset="0"/>
                <a:ea typeface="Georgia" pitchFamily="34" charset="-122"/>
                <a:cs typeface="Georgia" pitchFamily="34" charset="-120"/>
              </a:rPr>
              <a:t>Spoiler:  they're all the same problem.</a:t>
            </a:r>
            <a:endParaRPr lang="en-US" sz="2200" dirty="0"/>
          </a:p>
        </p:txBody>
      </p:sp>
    </p:spTree>
  </p:cSld>
  <p:clrMapOvr>
    <a:masterClrMapping/>
  </p:clrMapOvr>
  <p:transition spd="med" advClick="1">
    <p:wipe dir="r"/>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356B"/>
          </a:solidFill>
          <a:ln w="12700">
            <a:solidFill>
              <a:srgbClr val="00356B"/>
            </a:solidFill>
            <a:prstDash val="solid"/>
          </a:ln>
        </p:spPr>
      </p:sp>
      <p:sp>
        <p:nvSpPr>
          <p:cNvPr id="3" name="Text 1"/>
          <p:cNvSpPr/>
          <p:nvPr/>
        </p:nvSpPr>
        <p:spPr>
          <a:xfrm>
            <a:off x="7863840" y="228600"/>
            <a:ext cx="9144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 · 5</a:t>
            </a:r>
            <a:endParaRPr lang="en-US" sz="1000" dirty="0"/>
          </a:p>
        </p:txBody>
      </p:sp>
      <p:sp>
        <p:nvSpPr>
          <p:cNvPr id="4" name="Text 2"/>
          <p:cNvSpPr/>
          <p:nvPr/>
        </p:nvSpPr>
        <p:spPr>
          <a:xfrm>
            <a:off x="365760" y="4846320"/>
            <a:ext cx="841248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Trust, Lemons, Markets   ·   Yale Women in Economics   ·   May 4, 2026</a:t>
            </a:r>
            <a:endParaRPr lang="en-US" sz="900" dirty="0"/>
          </a:p>
        </p:txBody>
      </p:sp>
      <p:sp>
        <p:nvSpPr>
          <p:cNvPr id="5" name="Text 3"/>
          <p:cNvSpPr/>
          <p:nvPr/>
        </p:nvSpPr>
        <p:spPr>
          <a:xfrm>
            <a:off x="548640" y="502920"/>
            <a:ext cx="8229600" cy="914400"/>
          </a:xfrm>
          <a:prstGeom prst="rect">
            <a:avLst/>
          </a:prstGeom>
          <a:noFill/>
          <a:ln/>
        </p:spPr>
        <p:txBody>
          <a:bodyPr wrap="square" lIns="0" tIns="0" rIns="0" bIns="0" rtlCol="0" anchor="ctr"/>
          <a:lstStyle/>
          <a:p>
            <a:pPr indent="0" marL="0">
              <a:buNone/>
            </a:pPr>
            <a:r>
              <a:rPr lang="en-US" sz="5600" b="1" dirty="0">
                <a:solidFill>
                  <a:srgbClr val="00356B"/>
                </a:solidFill>
                <a:latin typeface="Georgia" pitchFamily="34" charset="0"/>
                <a:ea typeface="Georgia" pitchFamily="34" charset="-122"/>
                <a:cs typeface="Georgia" pitchFamily="34" charset="-120"/>
              </a:rPr>
              <a:t>Information.</a:t>
            </a:r>
            <a:endParaRPr lang="en-US" sz="5600" dirty="0"/>
          </a:p>
        </p:txBody>
      </p:sp>
      <p:sp>
        <p:nvSpPr>
          <p:cNvPr id="6" name="Text 4"/>
          <p:cNvSpPr/>
          <p:nvPr/>
        </p:nvSpPr>
        <p:spPr>
          <a:xfrm>
            <a:off x="548640" y="1554480"/>
            <a:ext cx="82296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Pick almost any economics problem.  Look closely.</a:t>
            </a:r>
            <a:endParaRPr lang="en-US" sz="1800" dirty="0"/>
          </a:p>
        </p:txBody>
      </p:sp>
      <p:sp>
        <p:nvSpPr>
          <p:cNvPr id="7" name="Shape 5"/>
          <p:cNvSpPr/>
          <p:nvPr/>
        </p:nvSpPr>
        <p:spPr>
          <a:xfrm>
            <a:off x="434340" y="2286000"/>
            <a:ext cx="2606040" cy="1280160"/>
          </a:xfrm>
          <a:prstGeom prst="rect">
            <a:avLst/>
          </a:prstGeom>
          <a:solidFill>
            <a:srgbClr val="F1EFEA"/>
          </a:solidFill>
          <a:ln w="12700">
            <a:solidFill>
              <a:srgbClr val="F1EFEA"/>
            </a:solidFill>
            <a:prstDash val="solid"/>
          </a:ln>
        </p:spPr>
      </p:sp>
      <p:sp>
        <p:nvSpPr>
          <p:cNvPr id="8" name="Shape 6"/>
          <p:cNvSpPr/>
          <p:nvPr/>
        </p:nvSpPr>
        <p:spPr>
          <a:xfrm>
            <a:off x="434340" y="2286000"/>
            <a:ext cx="2606040" cy="54864"/>
          </a:xfrm>
          <a:prstGeom prst="rect">
            <a:avLst/>
          </a:prstGeom>
          <a:solidFill>
            <a:srgbClr val="B89968"/>
          </a:solidFill>
          <a:ln w="12700">
            <a:solidFill>
              <a:srgbClr val="B89968"/>
            </a:solidFill>
            <a:prstDash val="solid"/>
          </a:ln>
        </p:spPr>
      </p:sp>
      <p:sp>
        <p:nvSpPr>
          <p:cNvPr id="9" name="Text 7"/>
          <p:cNvSpPr/>
          <p:nvPr/>
        </p:nvSpPr>
        <p:spPr>
          <a:xfrm>
            <a:off x="617220" y="2468880"/>
            <a:ext cx="2240280" cy="1005840"/>
          </a:xfrm>
          <a:prstGeom prst="rect">
            <a:avLst/>
          </a:prstGeom>
          <a:noFill/>
          <a:ln/>
        </p:spPr>
        <p:txBody>
          <a:bodyPr wrap="square" lIns="0" tIns="0" rIns="0" bIns="0" rtlCol="0" anchor="ctr"/>
          <a:lstStyle/>
          <a:p>
            <a:pPr algn="ctr" indent="0" marL="0">
              <a:buNone/>
            </a:pPr>
            <a:r>
              <a:rPr lang="en-US" sz="1600" i="1" dirty="0">
                <a:solidFill>
                  <a:srgbClr val="00356B"/>
                </a:solidFill>
                <a:latin typeface="Georgia" pitchFamily="34" charset="0"/>
                <a:ea typeface="Georgia" pitchFamily="34" charset="-122"/>
                <a:cs typeface="Georgia" pitchFamily="34" charset="-120"/>
              </a:rPr>
              <a:t>Why is health insurance so expensive?</a:t>
            </a:r>
            <a:endParaRPr lang="en-US" sz="1600" dirty="0"/>
          </a:p>
        </p:txBody>
      </p:sp>
      <p:sp>
        <p:nvSpPr>
          <p:cNvPr id="10" name="Shape 8"/>
          <p:cNvSpPr/>
          <p:nvPr/>
        </p:nvSpPr>
        <p:spPr>
          <a:xfrm>
            <a:off x="3268980" y="2286000"/>
            <a:ext cx="2606040" cy="1280160"/>
          </a:xfrm>
          <a:prstGeom prst="rect">
            <a:avLst/>
          </a:prstGeom>
          <a:solidFill>
            <a:srgbClr val="F1EFEA"/>
          </a:solidFill>
          <a:ln w="12700">
            <a:solidFill>
              <a:srgbClr val="F1EFEA"/>
            </a:solidFill>
            <a:prstDash val="solid"/>
          </a:ln>
        </p:spPr>
      </p:sp>
      <p:sp>
        <p:nvSpPr>
          <p:cNvPr id="11" name="Shape 9"/>
          <p:cNvSpPr/>
          <p:nvPr/>
        </p:nvSpPr>
        <p:spPr>
          <a:xfrm>
            <a:off x="3268980" y="2286000"/>
            <a:ext cx="2606040" cy="54864"/>
          </a:xfrm>
          <a:prstGeom prst="rect">
            <a:avLst/>
          </a:prstGeom>
          <a:solidFill>
            <a:srgbClr val="B89968"/>
          </a:solidFill>
          <a:ln w="12700">
            <a:solidFill>
              <a:srgbClr val="B89968"/>
            </a:solidFill>
            <a:prstDash val="solid"/>
          </a:ln>
        </p:spPr>
      </p:sp>
      <p:sp>
        <p:nvSpPr>
          <p:cNvPr id="12" name="Text 10"/>
          <p:cNvSpPr/>
          <p:nvPr/>
        </p:nvSpPr>
        <p:spPr>
          <a:xfrm>
            <a:off x="3451860" y="2468880"/>
            <a:ext cx="2240280" cy="1005840"/>
          </a:xfrm>
          <a:prstGeom prst="rect">
            <a:avLst/>
          </a:prstGeom>
          <a:noFill/>
          <a:ln/>
        </p:spPr>
        <p:txBody>
          <a:bodyPr wrap="square" lIns="0" tIns="0" rIns="0" bIns="0" rtlCol="0" anchor="ctr"/>
          <a:lstStyle/>
          <a:p>
            <a:pPr algn="ctr" indent="0" marL="0">
              <a:buNone/>
            </a:pPr>
            <a:r>
              <a:rPr lang="en-US" sz="1600" i="1" dirty="0">
                <a:solidFill>
                  <a:srgbClr val="00356B"/>
                </a:solidFill>
                <a:latin typeface="Georgia" pitchFamily="34" charset="0"/>
                <a:ea typeface="Georgia" pitchFamily="34" charset="-122"/>
                <a:cs typeface="Georgia" pitchFamily="34" charset="-120"/>
              </a:rPr>
              <a:t>Why do most startups fail?</a:t>
            </a:r>
            <a:endParaRPr lang="en-US" sz="1600" dirty="0"/>
          </a:p>
        </p:txBody>
      </p:sp>
      <p:sp>
        <p:nvSpPr>
          <p:cNvPr id="13" name="Shape 11"/>
          <p:cNvSpPr/>
          <p:nvPr/>
        </p:nvSpPr>
        <p:spPr>
          <a:xfrm>
            <a:off x="6103620" y="2286000"/>
            <a:ext cx="2606040" cy="1280160"/>
          </a:xfrm>
          <a:prstGeom prst="rect">
            <a:avLst/>
          </a:prstGeom>
          <a:solidFill>
            <a:srgbClr val="F1EFEA"/>
          </a:solidFill>
          <a:ln w="12700">
            <a:solidFill>
              <a:srgbClr val="F1EFEA"/>
            </a:solidFill>
            <a:prstDash val="solid"/>
          </a:ln>
        </p:spPr>
      </p:sp>
      <p:sp>
        <p:nvSpPr>
          <p:cNvPr id="14" name="Shape 12"/>
          <p:cNvSpPr/>
          <p:nvPr/>
        </p:nvSpPr>
        <p:spPr>
          <a:xfrm>
            <a:off x="6103620" y="2286000"/>
            <a:ext cx="2606040" cy="54864"/>
          </a:xfrm>
          <a:prstGeom prst="rect">
            <a:avLst/>
          </a:prstGeom>
          <a:solidFill>
            <a:srgbClr val="B89968"/>
          </a:solidFill>
          <a:ln w="12700">
            <a:solidFill>
              <a:srgbClr val="B89968"/>
            </a:solidFill>
            <a:prstDash val="solid"/>
          </a:ln>
        </p:spPr>
      </p:sp>
      <p:sp>
        <p:nvSpPr>
          <p:cNvPr id="15" name="Text 13"/>
          <p:cNvSpPr/>
          <p:nvPr/>
        </p:nvSpPr>
        <p:spPr>
          <a:xfrm>
            <a:off x="6286500" y="2468880"/>
            <a:ext cx="2240280" cy="1005840"/>
          </a:xfrm>
          <a:prstGeom prst="rect">
            <a:avLst/>
          </a:prstGeom>
          <a:noFill/>
          <a:ln/>
        </p:spPr>
        <p:txBody>
          <a:bodyPr wrap="square" lIns="0" tIns="0" rIns="0" bIns="0" rtlCol="0" anchor="ctr"/>
          <a:lstStyle/>
          <a:p>
            <a:pPr algn="ctr" indent="0" marL="0">
              <a:buNone/>
            </a:pPr>
            <a:r>
              <a:rPr lang="en-US" sz="1600" i="1" dirty="0">
                <a:solidFill>
                  <a:srgbClr val="00356B"/>
                </a:solidFill>
                <a:latin typeface="Georgia" pitchFamily="34" charset="0"/>
                <a:ea typeface="Georgia" pitchFamily="34" charset="-122"/>
                <a:cs typeface="Georgia" pitchFamily="34" charset="-120"/>
              </a:rPr>
              <a:t>Why are some markets thin and others thick?</a:t>
            </a:r>
            <a:endParaRPr lang="en-US" sz="1600" dirty="0"/>
          </a:p>
        </p:txBody>
      </p:sp>
      <p:sp>
        <p:nvSpPr>
          <p:cNvPr id="16" name="Text 14"/>
          <p:cNvSpPr/>
          <p:nvPr/>
        </p:nvSpPr>
        <p:spPr>
          <a:xfrm>
            <a:off x="548640" y="3840480"/>
            <a:ext cx="8229600" cy="411480"/>
          </a:xfrm>
          <a:prstGeom prst="rect">
            <a:avLst/>
          </a:prstGeom>
          <a:noFill/>
          <a:ln/>
        </p:spPr>
        <p:txBody>
          <a:bodyPr wrap="square" lIns="0" tIns="0" rIns="0" bIns="0" rtlCol="0" anchor="ctr"/>
          <a:lstStyle/>
          <a:p>
            <a:pPr algn="ctr" indent="0" marL="0">
              <a:buNone/>
            </a:pPr>
            <a:r>
              <a:rPr lang="en-US" sz="1800" dirty="0">
                <a:solidFill>
                  <a:srgbClr val="1F2937"/>
                </a:solidFill>
                <a:latin typeface="Calibri" pitchFamily="34" charset="0"/>
                <a:ea typeface="Calibri" pitchFamily="34" charset="-122"/>
                <a:cs typeface="Calibri" pitchFamily="34" charset="-120"/>
              </a:rPr>
              <a:t>Each one is an information problem in disguise.</a:t>
            </a:r>
            <a:endParaRPr lang="en-US" sz="1800" dirty="0"/>
          </a:p>
        </p:txBody>
      </p:sp>
      <p:sp>
        <p:nvSpPr>
          <p:cNvPr id="17" name="Text 15"/>
          <p:cNvSpPr/>
          <p:nvPr/>
        </p:nvSpPr>
        <p:spPr>
          <a:xfrm>
            <a:off x="548640" y="4251960"/>
            <a:ext cx="8229600" cy="411480"/>
          </a:xfrm>
          <a:prstGeom prst="rect">
            <a:avLst/>
          </a:prstGeom>
          <a:noFill/>
          <a:ln/>
        </p:spPr>
        <p:txBody>
          <a:bodyPr wrap="square" lIns="0" tIns="0" rIns="0" bIns="0" rtlCol="0" anchor="ctr"/>
          <a:lstStyle/>
          <a:p>
            <a:pPr algn="ctr" indent="0" marL="0">
              <a:buNone/>
            </a:pPr>
            <a:r>
              <a:rPr lang="en-US" sz="1800" i="1" dirty="0">
                <a:solidFill>
                  <a:srgbClr val="B89968"/>
                </a:solidFill>
                <a:latin typeface="Georgia" pitchFamily="34" charset="0"/>
                <a:ea typeface="Georgia" pitchFamily="34" charset="-122"/>
                <a:cs typeface="Georgia" pitchFamily="34" charset="-120"/>
              </a:rPr>
              <a:t>Your capstone topic is, too. Probably.</a:t>
            </a:r>
            <a:endParaRPr lang="en-US" sz="1800" dirty="0"/>
          </a:p>
        </p:txBody>
      </p:sp>
    </p:spTree>
  </p:cSld>
  <p:clrMapOvr>
    <a:masterClrMapping/>
  </p:clrMapOvr>
  <p:transition spd="med" advClick="1">
    <p:wipe dir="r"/>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356B"/>
          </a:solidFill>
          <a:ln w="12700">
            <a:solidFill>
              <a:srgbClr val="00356B"/>
            </a:solidFill>
            <a:prstDash val="solid"/>
          </a:ln>
        </p:spPr>
      </p:sp>
      <p:sp>
        <p:nvSpPr>
          <p:cNvPr id="3" name="Text 1"/>
          <p:cNvSpPr/>
          <p:nvPr/>
        </p:nvSpPr>
        <p:spPr>
          <a:xfrm>
            <a:off x="7863840" y="228600"/>
            <a:ext cx="9144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 · 5</a:t>
            </a:r>
            <a:endParaRPr lang="en-US" sz="1000" dirty="0"/>
          </a:p>
        </p:txBody>
      </p:sp>
      <p:sp>
        <p:nvSpPr>
          <p:cNvPr id="4" name="Text 2"/>
          <p:cNvSpPr/>
          <p:nvPr/>
        </p:nvSpPr>
        <p:spPr>
          <a:xfrm>
            <a:off x="365760" y="4846320"/>
            <a:ext cx="841248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Trust, Lemons, Markets   ·   Yale Women in Economics   ·   May 4, 2026</a:t>
            </a:r>
            <a:endParaRPr lang="en-US" sz="900" dirty="0"/>
          </a:p>
        </p:txBody>
      </p:sp>
      <p:sp>
        <p:nvSpPr>
          <p:cNvPr id="5" name="Text 3"/>
          <p:cNvSpPr/>
          <p:nvPr/>
        </p:nvSpPr>
        <p:spPr>
          <a:xfrm>
            <a:off x="548640" y="1097280"/>
            <a:ext cx="8229600" cy="548640"/>
          </a:xfrm>
          <a:prstGeom prst="rect">
            <a:avLst/>
          </a:prstGeom>
          <a:noFill/>
          <a:ln/>
        </p:spPr>
        <p:txBody>
          <a:bodyPr wrap="square" lIns="0" tIns="0" rIns="0" bIns="0" rtlCol="0" anchor="ctr"/>
          <a:lstStyle/>
          <a:p>
            <a:pPr indent="0" marL="0">
              <a:buNone/>
            </a:pPr>
            <a:r>
              <a:rPr lang="en-US" sz="2600" dirty="0">
                <a:solidFill>
                  <a:srgbClr val="1F2937"/>
                </a:solidFill>
                <a:latin typeface="Georgia" pitchFamily="34" charset="0"/>
                <a:ea typeface="Georgia" pitchFamily="34" charset="-122"/>
                <a:cs typeface="Georgia" pitchFamily="34" charset="-120"/>
              </a:rPr>
              <a:t>Now let's watch what happens</a:t>
            </a:r>
            <a:endParaRPr lang="en-US" sz="2600" dirty="0"/>
          </a:p>
        </p:txBody>
      </p:sp>
      <p:sp>
        <p:nvSpPr>
          <p:cNvPr id="6" name="Text 4"/>
          <p:cNvSpPr/>
          <p:nvPr/>
        </p:nvSpPr>
        <p:spPr>
          <a:xfrm>
            <a:off x="548640" y="1691640"/>
            <a:ext cx="8229600" cy="822960"/>
          </a:xfrm>
          <a:prstGeom prst="rect">
            <a:avLst/>
          </a:prstGeom>
          <a:noFill/>
          <a:ln/>
        </p:spPr>
        <p:txBody>
          <a:bodyPr wrap="square" lIns="0" tIns="0" rIns="0" bIns="0" rtlCol="0" anchor="ctr"/>
          <a:lstStyle/>
          <a:p>
            <a:pPr indent="0" marL="0">
              <a:buNone/>
            </a:pPr>
            <a:r>
              <a:rPr lang="en-US" sz="3400" b="1" dirty="0">
                <a:solidFill>
                  <a:srgbClr val="00356B"/>
                </a:solidFill>
                <a:latin typeface="Georgia" pitchFamily="34" charset="0"/>
                <a:ea typeface="Georgia" pitchFamily="34" charset="-122"/>
                <a:cs typeface="Georgia" pitchFamily="34" charset="-120"/>
              </a:rPr>
              <a:t>when information goes wrong.</a:t>
            </a:r>
            <a:endParaRPr lang="en-US" sz="3400" dirty="0"/>
          </a:p>
        </p:txBody>
      </p:sp>
      <p:sp>
        <p:nvSpPr>
          <p:cNvPr id="7" name="Text 5"/>
          <p:cNvSpPr/>
          <p:nvPr/>
        </p:nvSpPr>
        <p:spPr>
          <a:xfrm>
            <a:off x="548640" y="2834640"/>
            <a:ext cx="8229600" cy="457200"/>
          </a:xfrm>
          <a:prstGeom prst="rect">
            <a:avLst/>
          </a:prstGeom>
          <a:noFill/>
          <a:ln/>
        </p:spPr>
        <p:txBody>
          <a:bodyPr wrap="square" lIns="0" tIns="0" rIns="0" bIns="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A famous example — the used-car market.</a:t>
            </a:r>
            <a:endParaRPr lang="en-US" sz="2000" dirty="0"/>
          </a:p>
        </p:txBody>
      </p:sp>
      <p:sp>
        <p:nvSpPr>
          <p:cNvPr id="8" name="Text 6"/>
          <p:cNvSpPr/>
          <p:nvPr/>
        </p:nvSpPr>
        <p:spPr>
          <a:xfrm>
            <a:off x="548640" y="3246120"/>
            <a:ext cx="8229600" cy="365760"/>
          </a:xfrm>
          <a:prstGeom prst="rect">
            <a:avLst/>
          </a:prstGeom>
          <a:noFill/>
          <a:ln/>
        </p:spPr>
        <p:txBody>
          <a:bodyPr wrap="square" lIns="0" tIns="0" rIns="0" bIns="0" rtlCol="0" anchor="ctr"/>
          <a:lstStyle/>
          <a:p>
            <a:pPr indent="0" marL="0">
              <a:buNone/>
            </a:pPr>
            <a:r>
              <a:rPr lang="en-US" sz="1600" i="1" dirty="0">
                <a:solidFill>
                  <a:srgbClr val="6B7280"/>
                </a:solidFill>
                <a:latin typeface="Calibri" pitchFamily="34" charset="0"/>
                <a:ea typeface="Calibri" pitchFamily="34" charset="-122"/>
                <a:cs typeface="Calibri" pitchFamily="34" charset="-120"/>
              </a:rPr>
              <a:t>George Akerlof, 1970.  "The Market for Lemons."</a:t>
            </a:r>
            <a:endParaRPr lang="en-US" sz="1600" dirty="0"/>
          </a:p>
        </p:txBody>
      </p:sp>
      <p:sp>
        <p:nvSpPr>
          <p:cNvPr id="9" name="Text 7"/>
          <p:cNvSpPr/>
          <p:nvPr/>
        </p:nvSpPr>
        <p:spPr>
          <a:xfrm>
            <a:off x="548640" y="3931920"/>
            <a:ext cx="8229600" cy="320040"/>
          </a:xfrm>
          <a:prstGeom prst="rect">
            <a:avLst/>
          </a:prstGeom>
          <a:noFill/>
          <a:ln/>
        </p:spPr>
        <p:txBody>
          <a:bodyPr wrap="square" lIns="0" tIns="0" rIns="0" bIns="0"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Follow along on your own device:</a:t>
            </a:r>
            <a:endParaRPr lang="en-US" sz="1300" dirty="0"/>
          </a:p>
        </p:txBody>
      </p:sp>
      <p:sp>
        <p:nvSpPr>
          <p:cNvPr id="10" name="Text 8">
            <a:hlinkClick r:id="rId1" tooltip=""/>
          </p:cNvPr>
          <p:cNvSpPr/>
          <p:nvPr/>
        </p:nvSpPr>
        <p:spPr>
          <a:xfrm>
            <a:off x="548640" y="4224528"/>
            <a:ext cx="8229600" cy="411480"/>
          </a:xfrm>
          <a:prstGeom prst="rect">
            <a:avLst/>
          </a:prstGeom>
          <a:noFill/>
          <a:ln/>
        </p:spPr>
        <p:txBody>
          <a:bodyPr wrap="square" lIns="0" tIns="0" rIns="0" bIns="0" rtlCol="0" anchor="ctr"/>
          <a:lstStyle/>
          <a:p>
            <a:pPr algn="ctr" indent="0" marL="0">
              <a:buNone/>
            </a:pPr>
            <a:r>
              <a:rPr lang="en-US" sz="2200" b="1" u="sng" dirty="0">
                <a:solidFill>
                  <a:srgbClr val="00356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rick50antle.github.io/seeds-of-fortune-talk</a:t>
            </a:r>
            <a:endParaRPr lang="en-US" sz="2200" dirty="0"/>
          </a:p>
        </p:txBody>
      </p:sp>
    </p:spTree>
  </p:cSld>
  <p:clrMapOvr>
    <a:masterClrMapping/>
  </p:clrMapOvr>
  <p:transition spd="med" advClick="1">
    <p:wipe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 Lemons, Markets and (a little bit about) Accounting</dc:title>
  <dc:subject>Seeds of Fortune talk — front deck</dc:subject>
  <dc:creator>Rick Antle</dc:creator>
  <cp:lastModifiedBy>Rick Antle</cp:lastModifiedBy>
  <cp:revision>1</cp:revision>
  <dcterms:created xsi:type="dcterms:W3CDTF">2026-05-04T21:46:45Z</dcterms:created>
  <dcterms:modified xsi:type="dcterms:W3CDTF">2026-05-04T21:46:45Z</dcterms:modified>
</cp:coreProperties>
</file>